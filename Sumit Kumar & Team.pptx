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hivo Black" charset="1" panose="020B0A03020202020B04"/>
      <p:regular r:id="rId18"/>
    </p:embeddedFont>
    <p:embeddedFont>
      <p:font typeface="Canva Sans" charset="1" panose="020B0503030501040103"/>
      <p:regular r:id="rId19"/>
    </p:embeddedFont>
    <p:embeddedFont>
      <p:font typeface="Canva Sans Bold" charset="1" panose="020B0803030501040103"/>
      <p:regular r:id="rId20"/>
    </p:embeddedFont>
    <p:embeddedFont>
      <p:font typeface="Open Sans Bold" charset="1" panose="020B08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7327" y="-3254787"/>
            <a:ext cx="6141345" cy="6176200"/>
          </a:xfrm>
          <a:custGeom>
            <a:avLst/>
            <a:gdLst/>
            <a:ahLst/>
            <a:cxnLst/>
            <a:rect r="r" b="b" t="t" l="l"/>
            <a:pathLst>
              <a:path h="6176200" w="6141345">
                <a:moveTo>
                  <a:pt x="0" y="0"/>
                </a:moveTo>
                <a:lnTo>
                  <a:pt x="6141346" y="0"/>
                </a:lnTo>
                <a:lnTo>
                  <a:pt x="6141346" y="6176199"/>
                </a:lnTo>
                <a:lnTo>
                  <a:pt x="0" y="6176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28747" y="8159647"/>
            <a:ext cx="7983465" cy="8028774"/>
          </a:xfrm>
          <a:custGeom>
            <a:avLst/>
            <a:gdLst/>
            <a:ahLst/>
            <a:cxnLst/>
            <a:rect r="r" b="b" t="t" l="l"/>
            <a:pathLst>
              <a:path h="8028774" w="7983465">
                <a:moveTo>
                  <a:pt x="0" y="0"/>
                </a:moveTo>
                <a:lnTo>
                  <a:pt x="7983465" y="0"/>
                </a:lnTo>
                <a:lnTo>
                  <a:pt x="7983465" y="8028774"/>
                </a:lnTo>
                <a:lnTo>
                  <a:pt x="0" y="8028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30404" y="-3920634"/>
            <a:ext cx="4921404" cy="4949334"/>
          </a:xfrm>
          <a:custGeom>
            <a:avLst/>
            <a:gdLst/>
            <a:ahLst/>
            <a:cxnLst/>
            <a:rect r="r" b="b" t="t" l="l"/>
            <a:pathLst>
              <a:path h="4949334" w="4921404">
                <a:moveTo>
                  <a:pt x="0" y="0"/>
                </a:moveTo>
                <a:lnTo>
                  <a:pt x="4921403" y="0"/>
                </a:lnTo>
                <a:lnTo>
                  <a:pt x="4921403" y="4949334"/>
                </a:lnTo>
                <a:lnTo>
                  <a:pt x="0" y="4949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58465" y="5143500"/>
            <a:ext cx="6463809" cy="5389201"/>
          </a:xfrm>
          <a:custGeom>
            <a:avLst/>
            <a:gdLst/>
            <a:ahLst/>
            <a:cxnLst/>
            <a:rect r="r" b="b" t="t" l="l"/>
            <a:pathLst>
              <a:path h="5389201" w="6463809">
                <a:moveTo>
                  <a:pt x="0" y="0"/>
                </a:moveTo>
                <a:lnTo>
                  <a:pt x="6463810" y="0"/>
                </a:lnTo>
                <a:lnTo>
                  <a:pt x="6463810" y="5389201"/>
                </a:lnTo>
                <a:lnTo>
                  <a:pt x="0" y="5389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31431" y="2533240"/>
            <a:ext cx="4265131" cy="2610260"/>
          </a:xfrm>
          <a:custGeom>
            <a:avLst/>
            <a:gdLst/>
            <a:ahLst/>
            <a:cxnLst/>
            <a:rect r="r" b="b" t="t" l="l"/>
            <a:pathLst>
              <a:path h="2610260" w="4265131">
                <a:moveTo>
                  <a:pt x="0" y="0"/>
                </a:moveTo>
                <a:lnTo>
                  <a:pt x="4265131" y="0"/>
                </a:lnTo>
                <a:lnTo>
                  <a:pt x="4265131" y="2610260"/>
                </a:lnTo>
                <a:lnTo>
                  <a:pt x="0" y="2610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35667" y="735078"/>
            <a:ext cx="11685050" cy="158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spc="-22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JAVA-BASED ENTERPRISE INVENTORY MANAGEMENT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1307" y="7896465"/>
            <a:ext cx="438130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Sumit Kumar &amp; Team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54028" y="8934767"/>
            <a:ext cx="196582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Batch- 13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33130" y="6954125"/>
            <a:ext cx="29687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51307" y="6078460"/>
            <a:ext cx="462538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 Code: #z-13-18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8390" y="-1509121"/>
            <a:ext cx="2523499" cy="2537821"/>
          </a:xfrm>
          <a:custGeom>
            <a:avLst/>
            <a:gdLst/>
            <a:ahLst/>
            <a:cxnLst/>
            <a:rect r="r" b="b" t="t" l="l"/>
            <a:pathLst>
              <a:path h="2537821" w="2523499">
                <a:moveTo>
                  <a:pt x="0" y="0"/>
                </a:moveTo>
                <a:lnTo>
                  <a:pt x="2523499" y="0"/>
                </a:lnTo>
                <a:lnTo>
                  <a:pt x="2523499" y="2537821"/>
                </a:lnTo>
                <a:lnTo>
                  <a:pt x="0" y="2537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27468" y="6934612"/>
            <a:ext cx="5663663" cy="5695807"/>
          </a:xfrm>
          <a:custGeom>
            <a:avLst/>
            <a:gdLst/>
            <a:ahLst/>
            <a:cxnLst/>
            <a:rect r="r" b="b" t="t" l="l"/>
            <a:pathLst>
              <a:path h="5695807" w="5663663">
                <a:moveTo>
                  <a:pt x="0" y="0"/>
                </a:moveTo>
                <a:lnTo>
                  <a:pt x="5663664" y="0"/>
                </a:lnTo>
                <a:lnTo>
                  <a:pt x="5663664" y="5695806"/>
                </a:lnTo>
                <a:lnTo>
                  <a:pt x="0" y="5695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29328" y="3677268"/>
            <a:ext cx="1329972" cy="1726374"/>
          </a:xfrm>
          <a:custGeom>
            <a:avLst/>
            <a:gdLst/>
            <a:ahLst/>
            <a:cxnLst/>
            <a:rect r="r" b="b" t="t" l="l"/>
            <a:pathLst>
              <a:path h="1726374" w="1329972">
                <a:moveTo>
                  <a:pt x="0" y="0"/>
                </a:moveTo>
                <a:lnTo>
                  <a:pt x="1329972" y="0"/>
                </a:lnTo>
                <a:lnTo>
                  <a:pt x="1329972" y="1726374"/>
                </a:lnTo>
                <a:lnTo>
                  <a:pt x="0" y="1726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23145" y="8493492"/>
            <a:ext cx="1178393" cy="1529616"/>
          </a:xfrm>
          <a:custGeom>
            <a:avLst/>
            <a:gdLst/>
            <a:ahLst/>
            <a:cxnLst/>
            <a:rect r="r" b="b" t="t" l="l"/>
            <a:pathLst>
              <a:path h="1529616" w="1178393">
                <a:moveTo>
                  <a:pt x="0" y="0"/>
                </a:moveTo>
                <a:lnTo>
                  <a:pt x="1178394" y="0"/>
                </a:lnTo>
                <a:lnTo>
                  <a:pt x="1178394" y="1529616"/>
                </a:lnTo>
                <a:lnTo>
                  <a:pt x="0" y="1529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64638" y="537527"/>
            <a:ext cx="53585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 of 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49089" y="2167401"/>
            <a:ext cx="5150031" cy="67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troduction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 Objective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Architecture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Architecture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Technology Stack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Modules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Database Design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Features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</a:t>
            </a:r>
          </a:p>
          <a:p>
            <a:pPr algn="l" marL="757524" indent="-378762" lvl="1">
              <a:lnSpc>
                <a:spcPts val="4912"/>
              </a:lnSpc>
              <a:buAutoNum type="arabicPeriod" startAt="1"/>
            </a:pPr>
            <a:r>
              <a:rPr lang="en-US" sz="35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Thanks note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8390" y="-1509121"/>
            <a:ext cx="2523499" cy="2537821"/>
          </a:xfrm>
          <a:custGeom>
            <a:avLst/>
            <a:gdLst/>
            <a:ahLst/>
            <a:cxnLst/>
            <a:rect r="r" b="b" t="t" l="l"/>
            <a:pathLst>
              <a:path h="2537821" w="2523499">
                <a:moveTo>
                  <a:pt x="0" y="0"/>
                </a:moveTo>
                <a:lnTo>
                  <a:pt x="2523499" y="0"/>
                </a:lnTo>
                <a:lnTo>
                  <a:pt x="2523499" y="2537821"/>
                </a:lnTo>
                <a:lnTo>
                  <a:pt x="0" y="2537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50721" y="7778478"/>
            <a:ext cx="3417158" cy="3436552"/>
          </a:xfrm>
          <a:custGeom>
            <a:avLst/>
            <a:gdLst/>
            <a:ahLst/>
            <a:cxnLst/>
            <a:rect r="r" b="b" t="t" l="l"/>
            <a:pathLst>
              <a:path h="3436552" w="3417158">
                <a:moveTo>
                  <a:pt x="0" y="0"/>
                </a:moveTo>
                <a:lnTo>
                  <a:pt x="3417158" y="0"/>
                </a:lnTo>
                <a:lnTo>
                  <a:pt x="3417158" y="3436552"/>
                </a:lnTo>
                <a:lnTo>
                  <a:pt x="0" y="3436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48782" y="4091405"/>
            <a:ext cx="1621036" cy="2104190"/>
          </a:xfrm>
          <a:custGeom>
            <a:avLst/>
            <a:gdLst/>
            <a:ahLst/>
            <a:cxnLst/>
            <a:rect r="r" b="b" t="t" l="l"/>
            <a:pathLst>
              <a:path h="2104190" w="1621036">
                <a:moveTo>
                  <a:pt x="0" y="0"/>
                </a:moveTo>
                <a:lnTo>
                  <a:pt x="1621036" y="0"/>
                </a:lnTo>
                <a:lnTo>
                  <a:pt x="1621036" y="2104190"/>
                </a:lnTo>
                <a:lnTo>
                  <a:pt x="0" y="2104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5318" y="1375510"/>
            <a:ext cx="14639796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Inventory management is a key part of business operations that ensures pro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ducts are available in the right quantity at the right time. Proper inventory control helps businesses reduce operational costs, avoid stock shortages, and improve customer satisfaction.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However, many small and medium businesses still rely on manual inventory tracking methods, which create several challenges.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85318" y="4176810"/>
            <a:ext cx="11695509" cy="271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Challenges of manual inventory systems: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chances of human errors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Delaye</a:t>
            </a: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updates of stock information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Difficulty in tracking real-time inventory levels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Limited ability to generate accurate reports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solve these issues, businesses require an automated inventory management system.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85318" y="6854604"/>
            <a:ext cx="13207305" cy="271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Benefits of an automated system: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inventory tracking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Automated stock updates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Reporting and analytics for decision-making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Low-stock alerts to prevent shortages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Such systems improve efficiency, reduce manual effort, and enable better inventory management.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098308" y="141605"/>
            <a:ext cx="409138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12265" y="6255768"/>
            <a:ext cx="5742617" cy="5775209"/>
          </a:xfrm>
          <a:custGeom>
            <a:avLst/>
            <a:gdLst/>
            <a:ahLst/>
            <a:cxnLst/>
            <a:rect r="r" b="b" t="t" l="l"/>
            <a:pathLst>
              <a:path h="5775209" w="5742617">
                <a:moveTo>
                  <a:pt x="0" y="0"/>
                </a:moveTo>
                <a:lnTo>
                  <a:pt x="5742617" y="0"/>
                </a:lnTo>
                <a:lnTo>
                  <a:pt x="5742617" y="5775209"/>
                </a:lnTo>
                <a:lnTo>
                  <a:pt x="0" y="5775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13041" y="-2422388"/>
            <a:ext cx="3755291" cy="3776603"/>
          </a:xfrm>
          <a:custGeom>
            <a:avLst/>
            <a:gdLst/>
            <a:ahLst/>
            <a:cxnLst/>
            <a:rect r="r" b="b" t="t" l="l"/>
            <a:pathLst>
              <a:path h="3776603" w="3755291">
                <a:moveTo>
                  <a:pt x="0" y="0"/>
                </a:moveTo>
                <a:lnTo>
                  <a:pt x="3755291" y="0"/>
                </a:lnTo>
                <a:lnTo>
                  <a:pt x="3755291" y="3776603"/>
                </a:lnTo>
                <a:lnTo>
                  <a:pt x="0" y="3776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40707">
            <a:off x="15747909" y="738712"/>
            <a:ext cx="1393999" cy="1809483"/>
          </a:xfrm>
          <a:custGeom>
            <a:avLst/>
            <a:gdLst/>
            <a:ahLst/>
            <a:cxnLst/>
            <a:rect r="r" b="b" t="t" l="l"/>
            <a:pathLst>
              <a:path h="1809483" w="1393999">
                <a:moveTo>
                  <a:pt x="1393998" y="0"/>
                </a:moveTo>
                <a:lnTo>
                  <a:pt x="0" y="0"/>
                </a:lnTo>
                <a:lnTo>
                  <a:pt x="0" y="1809483"/>
                </a:lnTo>
                <a:lnTo>
                  <a:pt x="1393998" y="1809483"/>
                </a:lnTo>
                <a:lnTo>
                  <a:pt x="13939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40707">
            <a:off x="14853265" y="1977975"/>
            <a:ext cx="786041" cy="1020323"/>
          </a:xfrm>
          <a:custGeom>
            <a:avLst/>
            <a:gdLst/>
            <a:ahLst/>
            <a:cxnLst/>
            <a:rect r="r" b="b" t="t" l="l"/>
            <a:pathLst>
              <a:path h="1020323" w="786041">
                <a:moveTo>
                  <a:pt x="786042" y="0"/>
                </a:moveTo>
                <a:lnTo>
                  <a:pt x="0" y="0"/>
                </a:lnTo>
                <a:lnTo>
                  <a:pt x="0" y="1020323"/>
                </a:lnTo>
                <a:lnTo>
                  <a:pt x="786042" y="1020323"/>
                </a:lnTo>
                <a:lnTo>
                  <a:pt x="7860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6888" y="3802617"/>
            <a:ext cx="6625977" cy="6711395"/>
          </a:xfrm>
          <a:custGeom>
            <a:avLst/>
            <a:gdLst/>
            <a:ahLst/>
            <a:cxnLst/>
            <a:rect r="r" b="b" t="t" l="l"/>
            <a:pathLst>
              <a:path h="6711395" w="6625977">
                <a:moveTo>
                  <a:pt x="0" y="0"/>
                </a:moveTo>
                <a:lnTo>
                  <a:pt x="6625977" y="0"/>
                </a:lnTo>
                <a:lnTo>
                  <a:pt x="6625977" y="6711394"/>
                </a:lnTo>
                <a:lnTo>
                  <a:pt x="0" y="67113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90659" y="119799"/>
            <a:ext cx="5706682" cy="90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3"/>
              </a:lnSpc>
            </a:pPr>
            <a:r>
              <a:rPr lang="en-US" b="true" sz="5302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4865" y="1836379"/>
            <a:ext cx="12877229" cy="819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</a:pPr>
            <a:r>
              <a:rPr lang="en-US" sz="291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</a:t>
            </a:r>
            <a:r>
              <a:rPr lang="en-US" b="true" sz="29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 Inventory Tracking</a:t>
            </a:r>
          </a:p>
          <a:p>
            <a:pPr algn="l">
              <a:lnSpc>
                <a:spcPts val="4083"/>
              </a:lnSpc>
            </a:pPr>
            <a:r>
              <a:rPr lang="en-US" sz="29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Develop a system to efficiently manage and update product stock levels in real time.</a:t>
            </a:r>
          </a:p>
          <a:p>
            <a:pPr algn="l">
              <a:lnSpc>
                <a:spcPts val="4083"/>
              </a:lnSpc>
            </a:pPr>
          </a:p>
          <a:p>
            <a:pPr algn="l">
              <a:lnSpc>
                <a:spcPts val="4083"/>
              </a:lnSpc>
            </a:pPr>
            <a:r>
              <a:rPr lang="en-US" b="true" sz="29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2.Implement Secure User Access</a:t>
            </a:r>
          </a:p>
          <a:p>
            <a:pPr algn="l">
              <a:lnSpc>
                <a:spcPts val="4083"/>
              </a:lnSpc>
            </a:pPr>
            <a:r>
              <a:rPr lang="en-US" sz="29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Provide role-based authentication (Admin/User) to ensure secure access and controlled inventory operations.</a:t>
            </a:r>
          </a:p>
          <a:p>
            <a:pPr algn="l">
              <a:lnSpc>
                <a:spcPts val="4083"/>
              </a:lnSpc>
            </a:pPr>
          </a:p>
          <a:p>
            <a:pPr algn="l">
              <a:lnSpc>
                <a:spcPts val="4083"/>
              </a:lnSpc>
            </a:pPr>
            <a:r>
              <a:rPr lang="en-US" b="true" sz="29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3.Generate Inventory Reports</a:t>
            </a:r>
          </a:p>
          <a:p>
            <a:pPr algn="l">
              <a:lnSpc>
                <a:spcPts val="4083"/>
              </a:lnSpc>
            </a:pPr>
            <a:r>
              <a:rPr lang="en-US" sz="29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Enable generation and export of inventory data such as stock details and summaries for analysis.</a:t>
            </a:r>
          </a:p>
          <a:p>
            <a:pPr algn="l">
              <a:lnSpc>
                <a:spcPts val="4083"/>
              </a:lnSpc>
            </a:pPr>
          </a:p>
          <a:p>
            <a:pPr algn="l">
              <a:lnSpc>
                <a:spcPts val="4083"/>
              </a:lnSpc>
            </a:pPr>
            <a:r>
              <a:rPr lang="en-US" b="true" sz="29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4.Monitor Stock Levels and Alerts</a:t>
            </a:r>
          </a:p>
          <a:p>
            <a:pPr algn="l">
              <a:lnSpc>
                <a:spcPts val="4083"/>
              </a:lnSpc>
            </a:pPr>
            <a:r>
              <a:rPr lang="en-US" sz="29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Detect low-stock products and notify users to maintain optimal inventory levels and prevent shortages.</a:t>
            </a:r>
          </a:p>
          <a:p>
            <a:pPr algn="l">
              <a:lnSpc>
                <a:spcPts val="408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91964" y="-1916606"/>
            <a:ext cx="4166311" cy="4189956"/>
          </a:xfrm>
          <a:custGeom>
            <a:avLst/>
            <a:gdLst/>
            <a:ahLst/>
            <a:cxnLst/>
            <a:rect r="r" b="b" t="t" l="l"/>
            <a:pathLst>
              <a:path h="4189956" w="4166311">
                <a:moveTo>
                  <a:pt x="0" y="0"/>
                </a:moveTo>
                <a:lnTo>
                  <a:pt x="4166311" y="0"/>
                </a:lnTo>
                <a:lnTo>
                  <a:pt x="4166311" y="4189955"/>
                </a:lnTo>
                <a:lnTo>
                  <a:pt x="0" y="4189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20248" y="9112617"/>
            <a:ext cx="3755291" cy="3776603"/>
          </a:xfrm>
          <a:custGeom>
            <a:avLst/>
            <a:gdLst/>
            <a:ahLst/>
            <a:cxnLst/>
            <a:rect r="r" b="b" t="t" l="l"/>
            <a:pathLst>
              <a:path h="3776603" w="3755291">
                <a:moveTo>
                  <a:pt x="0" y="0"/>
                </a:moveTo>
                <a:lnTo>
                  <a:pt x="3755291" y="0"/>
                </a:lnTo>
                <a:lnTo>
                  <a:pt x="3755291" y="3776603"/>
                </a:lnTo>
                <a:lnTo>
                  <a:pt x="0" y="3776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02770" y="743733"/>
            <a:ext cx="1178393" cy="1529616"/>
          </a:xfrm>
          <a:custGeom>
            <a:avLst/>
            <a:gdLst/>
            <a:ahLst/>
            <a:cxnLst/>
            <a:rect r="r" b="b" t="t" l="l"/>
            <a:pathLst>
              <a:path h="1529616" w="1178393">
                <a:moveTo>
                  <a:pt x="0" y="0"/>
                </a:moveTo>
                <a:lnTo>
                  <a:pt x="1178393" y="0"/>
                </a:lnTo>
                <a:lnTo>
                  <a:pt x="1178393" y="1529616"/>
                </a:lnTo>
                <a:lnTo>
                  <a:pt x="0" y="1529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79968" y="4964861"/>
            <a:ext cx="7108032" cy="5322139"/>
          </a:xfrm>
          <a:custGeom>
            <a:avLst/>
            <a:gdLst/>
            <a:ahLst/>
            <a:cxnLst/>
            <a:rect r="r" b="b" t="t" l="l"/>
            <a:pathLst>
              <a:path h="5322139" w="7108032">
                <a:moveTo>
                  <a:pt x="0" y="0"/>
                </a:moveTo>
                <a:lnTo>
                  <a:pt x="7108032" y="0"/>
                </a:lnTo>
                <a:lnTo>
                  <a:pt x="7108032" y="5322139"/>
                </a:lnTo>
                <a:lnTo>
                  <a:pt x="0" y="5322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99931" y="-29845"/>
            <a:ext cx="66131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81075"/>
            <a:ext cx="12450199" cy="15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Inventory Management System follows</a:t>
            </a: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layered architecture, where each layer is responsible for a specific function. This structure improves code organization, maintainability, and scalability. Data flows from the user interface to the database through different layers, each handling a particular task in the system.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16989" y="3096895"/>
            <a:ext cx="11403835" cy="719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User Interface (Fronten</a:t>
            </a: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using HTML, CSS, Bootstrap, and Thymeleaf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pages like Login, Dashboard, and Product Management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Enables user interaction with the system</a:t>
            </a:r>
          </a:p>
          <a:p>
            <a:pPr algn="l">
              <a:lnSpc>
                <a:spcPts val="3220"/>
              </a:lnSpc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Controller Layer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Handles HTTP requests and responses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Connects frontend with backend logic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Implemented using Spring Boot Controllers</a:t>
            </a:r>
          </a:p>
          <a:p>
            <a:pPr algn="l">
              <a:lnSpc>
                <a:spcPts val="3220"/>
              </a:lnSpc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Service Layer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Contains business logic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Manages product operations, stock updates, and inventory calculations</a:t>
            </a:r>
          </a:p>
          <a:p>
            <a:pPr algn="l">
              <a:lnSpc>
                <a:spcPts val="3220"/>
              </a:lnSpc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Repository Layer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Handles database interactions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Spring Data JPA for CRUD operations</a:t>
            </a:r>
          </a:p>
          <a:p>
            <a:pPr algn="l">
              <a:lnSpc>
                <a:spcPts val="3220"/>
              </a:lnSpc>
            </a:pPr>
            <a:r>
              <a:rPr lang="en-US" b="true" sz="2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Database Layer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Stores users, products, and inventory data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Implemented using MySQL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91964" y="-1916606"/>
            <a:ext cx="4166311" cy="4189956"/>
          </a:xfrm>
          <a:custGeom>
            <a:avLst/>
            <a:gdLst/>
            <a:ahLst/>
            <a:cxnLst/>
            <a:rect r="r" b="b" t="t" l="l"/>
            <a:pathLst>
              <a:path h="4189956" w="4166311">
                <a:moveTo>
                  <a:pt x="0" y="0"/>
                </a:moveTo>
                <a:lnTo>
                  <a:pt x="4166311" y="0"/>
                </a:lnTo>
                <a:lnTo>
                  <a:pt x="4166311" y="4189955"/>
                </a:lnTo>
                <a:lnTo>
                  <a:pt x="0" y="4189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20248" y="9112617"/>
            <a:ext cx="3755291" cy="3776603"/>
          </a:xfrm>
          <a:custGeom>
            <a:avLst/>
            <a:gdLst/>
            <a:ahLst/>
            <a:cxnLst/>
            <a:rect r="r" b="b" t="t" l="l"/>
            <a:pathLst>
              <a:path h="3776603" w="3755291">
                <a:moveTo>
                  <a:pt x="0" y="0"/>
                </a:moveTo>
                <a:lnTo>
                  <a:pt x="3755291" y="0"/>
                </a:lnTo>
                <a:lnTo>
                  <a:pt x="3755291" y="3776603"/>
                </a:lnTo>
                <a:lnTo>
                  <a:pt x="0" y="3776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02770" y="743733"/>
            <a:ext cx="1178393" cy="1529616"/>
          </a:xfrm>
          <a:custGeom>
            <a:avLst/>
            <a:gdLst/>
            <a:ahLst/>
            <a:cxnLst/>
            <a:rect r="r" b="b" t="t" l="l"/>
            <a:pathLst>
              <a:path h="1529616" w="1178393">
                <a:moveTo>
                  <a:pt x="0" y="0"/>
                </a:moveTo>
                <a:lnTo>
                  <a:pt x="1178393" y="0"/>
                </a:lnTo>
                <a:lnTo>
                  <a:pt x="1178393" y="1529616"/>
                </a:lnTo>
                <a:lnTo>
                  <a:pt x="0" y="1529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51642" y="5313580"/>
            <a:ext cx="5268407" cy="3944720"/>
          </a:xfrm>
          <a:custGeom>
            <a:avLst/>
            <a:gdLst/>
            <a:ahLst/>
            <a:cxnLst/>
            <a:rect r="r" b="b" t="t" l="l"/>
            <a:pathLst>
              <a:path h="3944720" w="5268407">
                <a:moveTo>
                  <a:pt x="0" y="0"/>
                </a:moveTo>
                <a:lnTo>
                  <a:pt x="5268407" y="0"/>
                </a:lnTo>
                <a:lnTo>
                  <a:pt x="5268407" y="3944720"/>
                </a:lnTo>
                <a:lnTo>
                  <a:pt x="0" y="3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69389" y="1667802"/>
            <a:ext cx="7019412" cy="8486155"/>
          </a:xfrm>
          <a:custGeom>
            <a:avLst/>
            <a:gdLst/>
            <a:ahLst/>
            <a:cxnLst/>
            <a:rect r="r" b="b" t="t" l="l"/>
            <a:pathLst>
              <a:path h="8486155" w="7019412">
                <a:moveTo>
                  <a:pt x="0" y="0"/>
                </a:moveTo>
                <a:lnTo>
                  <a:pt x="7019412" y="0"/>
                </a:lnTo>
                <a:lnTo>
                  <a:pt x="7019412" y="8486155"/>
                </a:lnTo>
                <a:lnTo>
                  <a:pt x="0" y="84861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46136" y="237198"/>
            <a:ext cx="9192140" cy="14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89"/>
              </a:lnSpc>
            </a:pPr>
            <a:r>
              <a:rPr lang="en-US" b="true" sz="8421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Stack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0662" y="7775668"/>
            <a:ext cx="4166311" cy="4189956"/>
          </a:xfrm>
          <a:custGeom>
            <a:avLst/>
            <a:gdLst/>
            <a:ahLst/>
            <a:cxnLst/>
            <a:rect r="r" b="b" t="t" l="l"/>
            <a:pathLst>
              <a:path h="4189956" w="4166311">
                <a:moveTo>
                  <a:pt x="0" y="0"/>
                </a:moveTo>
                <a:lnTo>
                  <a:pt x="4166311" y="0"/>
                </a:lnTo>
                <a:lnTo>
                  <a:pt x="4166311" y="4189955"/>
                </a:lnTo>
                <a:lnTo>
                  <a:pt x="0" y="4189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2866" y="-1657885"/>
            <a:ext cx="3755291" cy="3776603"/>
          </a:xfrm>
          <a:custGeom>
            <a:avLst/>
            <a:gdLst/>
            <a:ahLst/>
            <a:cxnLst/>
            <a:rect r="r" b="b" t="t" l="l"/>
            <a:pathLst>
              <a:path h="3776603" w="3755291">
                <a:moveTo>
                  <a:pt x="0" y="0"/>
                </a:moveTo>
                <a:lnTo>
                  <a:pt x="3755291" y="0"/>
                </a:lnTo>
                <a:lnTo>
                  <a:pt x="3755291" y="3776604"/>
                </a:lnTo>
                <a:lnTo>
                  <a:pt x="0" y="377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12866">
            <a:off x="881354" y="8193334"/>
            <a:ext cx="1178393" cy="1529616"/>
          </a:xfrm>
          <a:custGeom>
            <a:avLst/>
            <a:gdLst/>
            <a:ahLst/>
            <a:cxnLst/>
            <a:rect r="r" b="b" t="t" l="l"/>
            <a:pathLst>
              <a:path h="1529616" w="1178393">
                <a:moveTo>
                  <a:pt x="0" y="0"/>
                </a:moveTo>
                <a:lnTo>
                  <a:pt x="1178393" y="0"/>
                </a:lnTo>
                <a:lnTo>
                  <a:pt x="1178393" y="1529616"/>
                </a:lnTo>
                <a:lnTo>
                  <a:pt x="0" y="1529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40707">
            <a:off x="16218552" y="878646"/>
            <a:ext cx="1178393" cy="1529616"/>
          </a:xfrm>
          <a:custGeom>
            <a:avLst/>
            <a:gdLst/>
            <a:ahLst/>
            <a:cxnLst/>
            <a:rect r="r" b="b" t="t" l="l"/>
            <a:pathLst>
              <a:path h="1529616" w="1178393">
                <a:moveTo>
                  <a:pt x="1178393" y="0"/>
                </a:moveTo>
                <a:lnTo>
                  <a:pt x="0" y="0"/>
                </a:lnTo>
                <a:lnTo>
                  <a:pt x="0" y="1529616"/>
                </a:lnTo>
                <a:lnTo>
                  <a:pt x="1178393" y="1529616"/>
                </a:lnTo>
                <a:lnTo>
                  <a:pt x="11783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3818" y="2080619"/>
            <a:ext cx="12025116" cy="6682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Inventory Tracking Engine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Manages core inventory operations such as a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dding products, updating stock levels, and viewing product details. It ensures accurate tracking of inventory data.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User Authentication System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Provides secure login and role-based access control to ensure that only authorized users can manage or modify inventory information.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Reporting and CSV Integration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Generates inventory reports and summaries and allows exporting data into CSV files for analysis and record-keeping.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Stock Alert System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Monitors inventory levels and detects low-stock products, helping users reorder items on time and avoid shortages.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229689" y="537527"/>
            <a:ext cx="531852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</a:t>
            </a:r>
            <a:r>
              <a:rPr lang="en-US" b="true" sz="5199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stem Modules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88596" y="8243315"/>
            <a:ext cx="3766286" cy="3787662"/>
          </a:xfrm>
          <a:custGeom>
            <a:avLst/>
            <a:gdLst/>
            <a:ahLst/>
            <a:cxnLst/>
            <a:rect r="r" b="b" t="t" l="l"/>
            <a:pathLst>
              <a:path h="3787662" w="3766286">
                <a:moveTo>
                  <a:pt x="0" y="0"/>
                </a:moveTo>
                <a:lnTo>
                  <a:pt x="3766286" y="0"/>
                </a:lnTo>
                <a:lnTo>
                  <a:pt x="3766286" y="3787662"/>
                </a:lnTo>
                <a:lnTo>
                  <a:pt x="0" y="3787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13041" y="-2422388"/>
            <a:ext cx="3755291" cy="3776603"/>
          </a:xfrm>
          <a:custGeom>
            <a:avLst/>
            <a:gdLst/>
            <a:ahLst/>
            <a:cxnLst/>
            <a:rect r="r" b="b" t="t" l="l"/>
            <a:pathLst>
              <a:path h="3776603" w="3755291">
                <a:moveTo>
                  <a:pt x="0" y="0"/>
                </a:moveTo>
                <a:lnTo>
                  <a:pt x="3755291" y="0"/>
                </a:lnTo>
                <a:lnTo>
                  <a:pt x="3755291" y="3776603"/>
                </a:lnTo>
                <a:lnTo>
                  <a:pt x="0" y="3776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40707">
            <a:off x="15747909" y="738712"/>
            <a:ext cx="1393999" cy="1809483"/>
          </a:xfrm>
          <a:custGeom>
            <a:avLst/>
            <a:gdLst/>
            <a:ahLst/>
            <a:cxnLst/>
            <a:rect r="r" b="b" t="t" l="l"/>
            <a:pathLst>
              <a:path h="1809483" w="1393999">
                <a:moveTo>
                  <a:pt x="1393998" y="0"/>
                </a:moveTo>
                <a:lnTo>
                  <a:pt x="0" y="0"/>
                </a:lnTo>
                <a:lnTo>
                  <a:pt x="0" y="1809483"/>
                </a:lnTo>
                <a:lnTo>
                  <a:pt x="1393998" y="1809483"/>
                </a:lnTo>
                <a:lnTo>
                  <a:pt x="13939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40707">
            <a:off x="16986919" y="3604625"/>
            <a:ext cx="786041" cy="1020323"/>
          </a:xfrm>
          <a:custGeom>
            <a:avLst/>
            <a:gdLst/>
            <a:ahLst/>
            <a:cxnLst/>
            <a:rect r="r" b="b" t="t" l="l"/>
            <a:pathLst>
              <a:path h="1020323" w="786041">
                <a:moveTo>
                  <a:pt x="786042" y="0"/>
                </a:moveTo>
                <a:lnTo>
                  <a:pt x="0" y="0"/>
                </a:lnTo>
                <a:lnTo>
                  <a:pt x="0" y="1020323"/>
                </a:lnTo>
                <a:lnTo>
                  <a:pt x="786042" y="1020323"/>
                </a:lnTo>
                <a:lnTo>
                  <a:pt x="7860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27940" y="5514726"/>
            <a:ext cx="4711536" cy="4772274"/>
          </a:xfrm>
          <a:custGeom>
            <a:avLst/>
            <a:gdLst/>
            <a:ahLst/>
            <a:cxnLst/>
            <a:rect r="r" b="b" t="t" l="l"/>
            <a:pathLst>
              <a:path h="4772274" w="4711536">
                <a:moveTo>
                  <a:pt x="0" y="0"/>
                </a:moveTo>
                <a:lnTo>
                  <a:pt x="4711536" y="0"/>
                </a:lnTo>
                <a:lnTo>
                  <a:pt x="4711536" y="4772274"/>
                </a:lnTo>
                <a:lnTo>
                  <a:pt x="0" y="47722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75810" y="476810"/>
            <a:ext cx="55494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Database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4604" y="1809352"/>
            <a:ext cx="3619103" cy="104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🗂️</a:t>
            </a:r>
            <a:r>
              <a:rPr lang="en-US" sz="30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Tables Overview</a:t>
            </a:r>
          </a:p>
          <a:p>
            <a:pPr algn="l">
              <a:lnSpc>
                <a:spcPts val="421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90228" y="2667223"/>
            <a:ext cx="16462470" cy="711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6"/>
              </a:lnSpc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is </a:t>
            </a: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designed using three core tables to manage products, track stock changes, and handle users:</a:t>
            </a:r>
          </a:p>
          <a:p>
            <a:pPr algn="l" marL="546900" indent="-273450" lvl="1">
              <a:lnSpc>
                <a:spcPts val="3546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Products Table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Stores product details such as name, category, price, quantity, reorder level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Maintains last_updated timestamp for real-time tracking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Primary Key: id</a:t>
            </a:r>
          </a:p>
          <a:p>
            <a:pPr algn="l" marL="546900" indent="-273450" lvl="1">
              <a:lnSpc>
                <a:spcPts val="3546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Stock_Logs Table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Records every stock movement (ADD / REMOVE)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Tracks change date, product reference, and quantity changed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Primary Key: id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Foreign Key: product_id → Products.id</a:t>
            </a:r>
          </a:p>
          <a:p>
            <a:pPr algn="l" marL="546900" indent="-273450" lvl="1">
              <a:lnSpc>
                <a:spcPts val="3546"/>
              </a:lnSpc>
              <a:buFont typeface="Arial"/>
              <a:buChar char="•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Table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Manages system users with roles (ADMIN / USER)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Stores username, email, encrypted password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Includes enabled flag for account activation</a:t>
            </a:r>
          </a:p>
          <a:p>
            <a:pPr algn="l" marL="1093799" indent="-364600" lvl="2">
              <a:lnSpc>
                <a:spcPts val="3546"/>
              </a:lnSpc>
              <a:buFont typeface="Arial"/>
              <a:buChar char="⚬"/>
            </a:pPr>
            <a:r>
              <a:rPr lang="en-US" sz="25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Primary Key: id</a:t>
            </a:r>
          </a:p>
          <a:p>
            <a:pPr algn="l">
              <a:lnSpc>
                <a:spcPts val="354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89643" y="8549278"/>
            <a:ext cx="5742617" cy="5775209"/>
          </a:xfrm>
          <a:custGeom>
            <a:avLst/>
            <a:gdLst/>
            <a:ahLst/>
            <a:cxnLst/>
            <a:rect r="r" b="b" t="t" l="l"/>
            <a:pathLst>
              <a:path h="5775209" w="5742617">
                <a:moveTo>
                  <a:pt x="0" y="0"/>
                </a:moveTo>
                <a:lnTo>
                  <a:pt x="5742618" y="0"/>
                </a:lnTo>
                <a:lnTo>
                  <a:pt x="5742618" y="5775209"/>
                </a:lnTo>
                <a:lnTo>
                  <a:pt x="0" y="5775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13041" y="-2422388"/>
            <a:ext cx="3755291" cy="3776603"/>
          </a:xfrm>
          <a:custGeom>
            <a:avLst/>
            <a:gdLst/>
            <a:ahLst/>
            <a:cxnLst/>
            <a:rect r="r" b="b" t="t" l="l"/>
            <a:pathLst>
              <a:path h="3776603" w="3755291">
                <a:moveTo>
                  <a:pt x="0" y="0"/>
                </a:moveTo>
                <a:lnTo>
                  <a:pt x="3755291" y="0"/>
                </a:lnTo>
                <a:lnTo>
                  <a:pt x="3755291" y="3776603"/>
                </a:lnTo>
                <a:lnTo>
                  <a:pt x="0" y="3776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40707">
            <a:off x="15183600" y="738712"/>
            <a:ext cx="1393999" cy="1809483"/>
          </a:xfrm>
          <a:custGeom>
            <a:avLst/>
            <a:gdLst/>
            <a:ahLst/>
            <a:cxnLst/>
            <a:rect r="r" b="b" t="t" l="l"/>
            <a:pathLst>
              <a:path h="1809483" w="1393999">
                <a:moveTo>
                  <a:pt x="1393998" y="0"/>
                </a:moveTo>
                <a:lnTo>
                  <a:pt x="0" y="0"/>
                </a:lnTo>
                <a:lnTo>
                  <a:pt x="0" y="1809483"/>
                </a:lnTo>
                <a:lnTo>
                  <a:pt x="1393998" y="1809483"/>
                </a:lnTo>
                <a:lnTo>
                  <a:pt x="13939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31834" y="4248248"/>
            <a:ext cx="4627466" cy="5010052"/>
          </a:xfrm>
          <a:custGeom>
            <a:avLst/>
            <a:gdLst/>
            <a:ahLst/>
            <a:cxnLst/>
            <a:rect r="r" b="b" t="t" l="l"/>
            <a:pathLst>
              <a:path h="5010052" w="4627466">
                <a:moveTo>
                  <a:pt x="0" y="0"/>
                </a:moveTo>
                <a:lnTo>
                  <a:pt x="4627466" y="0"/>
                </a:lnTo>
                <a:lnTo>
                  <a:pt x="4627466" y="5010052"/>
                </a:lnTo>
                <a:lnTo>
                  <a:pt x="0" y="50100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70930" y="-47223"/>
            <a:ext cx="6545957" cy="140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b="true" sz="8200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62448" y="2637853"/>
            <a:ext cx="7315440" cy="662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Login &amp; Signup</a:t>
            </a:r>
          </a:p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Role-based access (Admin/User)</a:t>
            </a:r>
          </a:p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/ Update products</a:t>
            </a:r>
          </a:p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Stock update system</a:t>
            </a:r>
          </a:p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 stock alerts</a:t>
            </a:r>
          </a:p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analytics</a:t>
            </a:r>
          </a:p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Graph visualization</a:t>
            </a:r>
          </a:p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CSV export reports</a:t>
            </a:r>
          </a:p>
          <a:p>
            <a:pPr algn="l" marL="813416" indent="-406708" lvl="1">
              <a:lnSpc>
                <a:spcPts val="5274"/>
              </a:lnSpc>
              <a:buAutoNum type="arabicPeriod" startAt="1"/>
            </a:pPr>
            <a:r>
              <a:rPr lang="en-US" sz="3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Search and filtering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39825" y="-1293899"/>
            <a:ext cx="3755291" cy="3776603"/>
          </a:xfrm>
          <a:custGeom>
            <a:avLst/>
            <a:gdLst/>
            <a:ahLst/>
            <a:cxnLst/>
            <a:rect r="r" b="b" t="t" l="l"/>
            <a:pathLst>
              <a:path h="3776603" w="3755291">
                <a:moveTo>
                  <a:pt x="0" y="0"/>
                </a:moveTo>
                <a:lnTo>
                  <a:pt x="3755291" y="0"/>
                </a:lnTo>
                <a:lnTo>
                  <a:pt x="3755291" y="3776604"/>
                </a:lnTo>
                <a:lnTo>
                  <a:pt x="0" y="377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72534" y="7804295"/>
            <a:ext cx="3755291" cy="3776603"/>
          </a:xfrm>
          <a:custGeom>
            <a:avLst/>
            <a:gdLst/>
            <a:ahLst/>
            <a:cxnLst/>
            <a:rect r="r" b="b" t="t" l="l"/>
            <a:pathLst>
              <a:path h="3776603" w="3755291">
                <a:moveTo>
                  <a:pt x="0" y="0"/>
                </a:moveTo>
                <a:lnTo>
                  <a:pt x="3755291" y="0"/>
                </a:lnTo>
                <a:lnTo>
                  <a:pt x="3755291" y="3776604"/>
                </a:lnTo>
                <a:lnTo>
                  <a:pt x="0" y="3776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40707">
            <a:off x="15841819" y="744013"/>
            <a:ext cx="1210741" cy="1571605"/>
          </a:xfrm>
          <a:custGeom>
            <a:avLst/>
            <a:gdLst/>
            <a:ahLst/>
            <a:cxnLst/>
            <a:rect r="r" b="b" t="t" l="l"/>
            <a:pathLst>
              <a:path h="1571605" w="1210741">
                <a:moveTo>
                  <a:pt x="1210741" y="0"/>
                </a:moveTo>
                <a:lnTo>
                  <a:pt x="0" y="0"/>
                </a:lnTo>
                <a:lnTo>
                  <a:pt x="0" y="1571605"/>
                </a:lnTo>
                <a:lnTo>
                  <a:pt x="1210741" y="1571605"/>
                </a:lnTo>
                <a:lnTo>
                  <a:pt x="12107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40707">
            <a:off x="893666" y="7959691"/>
            <a:ext cx="1299845" cy="1687267"/>
          </a:xfrm>
          <a:custGeom>
            <a:avLst/>
            <a:gdLst/>
            <a:ahLst/>
            <a:cxnLst/>
            <a:rect r="r" b="b" t="t" l="l"/>
            <a:pathLst>
              <a:path h="1687267" w="1299845">
                <a:moveTo>
                  <a:pt x="1299844" y="0"/>
                </a:moveTo>
                <a:lnTo>
                  <a:pt x="0" y="0"/>
                </a:lnTo>
                <a:lnTo>
                  <a:pt x="0" y="1687267"/>
                </a:lnTo>
                <a:lnTo>
                  <a:pt x="1299844" y="1687267"/>
                </a:lnTo>
                <a:lnTo>
                  <a:pt x="12998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36803" y="499153"/>
            <a:ext cx="362416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C76B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7852" y="2077085"/>
            <a:ext cx="13594682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a Java-based inventory management system that automates product tracking, secure authentication, and real-time stock monitoring.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Replaces manual inventory methods, reducing errors and improving operational efficiency through features like stock alerts, reporting, and role-based access.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with a modular design, allowing future enhancements such as email notifications, advanced analytics, and cloud deployment.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28942" y="-3368960"/>
            <a:ext cx="6141345" cy="6176200"/>
          </a:xfrm>
          <a:custGeom>
            <a:avLst/>
            <a:gdLst/>
            <a:ahLst/>
            <a:cxnLst/>
            <a:rect r="r" b="b" t="t" l="l"/>
            <a:pathLst>
              <a:path h="6176200" w="6141345">
                <a:moveTo>
                  <a:pt x="0" y="0"/>
                </a:moveTo>
                <a:lnTo>
                  <a:pt x="6141345" y="0"/>
                </a:lnTo>
                <a:lnTo>
                  <a:pt x="6141345" y="6176200"/>
                </a:lnTo>
                <a:lnTo>
                  <a:pt x="0" y="617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60702" y="6396698"/>
            <a:ext cx="4921404" cy="4949334"/>
          </a:xfrm>
          <a:custGeom>
            <a:avLst/>
            <a:gdLst/>
            <a:ahLst/>
            <a:cxnLst/>
            <a:rect r="r" b="b" t="t" l="l"/>
            <a:pathLst>
              <a:path h="4949334" w="4921404">
                <a:moveTo>
                  <a:pt x="0" y="0"/>
                </a:moveTo>
                <a:lnTo>
                  <a:pt x="4921404" y="0"/>
                </a:lnTo>
                <a:lnTo>
                  <a:pt x="4921404" y="4949334"/>
                </a:lnTo>
                <a:lnTo>
                  <a:pt x="0" y="4949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78390" y="-1268911"/>
            <a:ext cx="2523499" cy="2537821"/>
          </a:xfrm>
          <a:custGeom>
            <a:avLst/>
            <a:gdLst/>
            <a:ahLst/>
            <a:cxnLst/>
            <a:rect r="r" b="b" t="t" l="l"/>
            <a:pathLst>
              <a:path h="2537821" w="2523499">
                <a:moveTo>
                  <a:pt x="0" y="0"/>
                </a:moveTo>
                <a:lnTo>
                  <a:pt x="2523499" y="0"/>
                </a:lnTo>
                <a:lnTo>
                  <a:pt x="2523499" y="2537822"/>
                </a:lnTo>
                <a:lnTo>
                  <a:pt x="0" y="2537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444778"/>
            <a:ext cx="2523499" cy="2537821"/>
          </a:xfrm>
          <a:custGeom>
            <a:avLst/>
            <a:gdLst/>
            <a:ahLst/>
            <a:cxnLst/>
            <a:rect r="r" b="b" t="t" l="l"/>
            <a:pathLst>
              <a:path h="2537821" w="2523499">
                <a:moveTo>
                  <a:pt x="0" y="0"/>
                </a:moveTo>
                <a:lnTo>
                  <a:pt x="2523499" y="0"/>
                </a:lnTo>
                <a:lnTo>
                  <a:pt x="2523499" y="2537821"/>
                </a:lnTo>
                <a:lnTo>
                  <a:pt x="0" y="2537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93811">
            <a:off x="4487863" y="2807240"/>
            <a:ext cx="9312274" cy="7178916"/>
          </a:xfrm>
          <a:custGeom>
            <a:avLst/>
            <a:gdLst/>
            <a:ahLst/>
            <a:cxnLst/>
            <a:rect r="r" b="b" t="t" l="l"/>
            <a:pathLst>
              <a:path h="7178916" w="9312274">
                <a:moveTo>
                  <a:pt x="0" y="0"/>
                </a:moveTo>
                <a:lnTo>
                  <a:pt x="9312274" y="0"/>
                </a:lnTo>
                <a:lnTo>
                  <a:pt x="9312274" y="7178916"/>
                </a:lnTo>
                <a:lnTo>
                  <a:pt x="0" y="7178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59058" y="1276350"/>
            <a:ext cx="11569885" cy="126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9"/>
              </a:lnSpc>
            </a:pPr>
            <a:r>
              <a:rPr lang="en-US" sz="9999" spc="-489">
                <a:solidFill>
                  <a:srgbClr val="023FB4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61380" y="4256258"/>
            <a:ext cx="7160925" cy="311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6248" indent="-478124" lvl="1">
              <a:lnSpc>
                <a:spcPts val="6200"/>
              </a:lnSpc>
              <a:buAutoNum type="arabicPeriod" startAt="1"/>
            </a:pPr>
            <a:r>
              <a:rPr lang="en-US" b="true" sz="4429">
                <a:solidFill>
                  <a:srgbClr val="F3F8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Sumit Kumar</a:t>
            </a:r>
          </a:p>
          <a:p>
            <a:pPr algn="l" marL="956248" indent="-478124" lvl="1">
              <a:lnSpc>
                <a:spcPts val="6200"/>
              </a:lnSpc>
              <a:buAutoNum type="arabicPeriod" startAt="1"/>
            </a:pPr>
            <a:r>
              <a:rPr lang="en-US" b="true" sz="4429">
                <a:solidFill>
                  <a:srgbClr val="F3F8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Sagar Wankhede</a:t>
            </a:r>
          </a:p>
          <a:p>
            <a:pPr algn="l" marL="956248" indent="-478124" lvl="1">
              <a:lnSpc>
                <a:spcPts val="6200"/>
              </a:lnSpc>
              <a:buAutoNum type="arabicPeriod" startAt="1"/>
            </a:pPr>
            <a:r>
              <a:rPr lang="en-US" b="true" sz="4429">
                <a:solidFill>
                  <a:srgbClr val="F3F8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RathiKindi Meenakshi</a:t>
            </a:r>
          </a:p>
          <a:p>
            <a:pPr algn="l" marL="956248" indent="-478124" lvl="1">
              <a:lnSpc>
                <a:spcPts val="6200"/>
              </a:lnSpc>
              <a:buAutoNum type="arabicPeriod" startAt="1"/>
            </a:pPr>
            <a:r>
              <a:rPr lang="en-US" b="true" sz="4429">
                <a:solidFill>
                  <a:srgbClr val="F3F8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Swetha 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12688" y="-2453346"/>
            <a:ext cx="5705207" cy="5737586"/>
          </a:xfrm>
          <a:custGeom>
            <a:avLst/>
            <a:gdLst/>
            <a:ahLst/>
            <a:cxnLst/>
            <a:rect r="r" b="b" t="t" l="l"/>
            <a:pathLst>
              <a:path h="5737586" w="5705207">
                <a:moveTo>
                  <a:pt x="0" y="0"/>
                </a:moveTo>
                <a:lnTo>
                  <a:pt x="5705208" y="0"/>
                </a:lnTo>
                <a:lnTo>
                  <a:pt x="5705208" y="5737587"/>
                </a:lnTo>
                <a:lnTo>
                  <a:pt x="0" y="5737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92295" y="6496719"/>
            <a:ext cx="6208392" cy="6243627"/>
          </a:xfrm>
          <a:custGeom>
            <a:avLst/>
            <a:gdLst/>
            <a:ahLst/>
            <a:cxnLst/>
            <a:rect r="r" b="b" t="t" l="l"/>
            <a:pathLst>
              <a:path h="6243627" w="6208392">
                <a:moveTo>
                  <a:pt x="0" y="0"/>
                </a:moveTo>
                <a:lnTo>
                  <a:pt x="6208393" y="0"/>
                </a:lnTo>
                <a:lnTo>
                  <a:pt x="6208393" y="6243627"/>
                </a:lnTo>
                <a:lnTo>
                  <a:pt x="0" y="6243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40707">
            <a:off x="15400379" y="1173444"/>
            <a:ext cx="1210741" cy="1571605"/>
          </a:xfrm>
          <a:custGeom>
            <a:avLst/>
            <a:gdLst/>
            <a:ahLst/>
            <a:cxnLst/>
            <a:rect r="r" b="b" t="t" l="l"/>
            <a:pathLst>
              <a:path h="1571605" w="1210741">
                <a:moveTo>
                  <a:pt x="1210741" y="0"/>
                </a:moveTo>
                <a:lnTo>
                  <a:pt x="0" y="0"/>
                </a:lnTo>
                <a:lnTo>
                  <a:pt x="0" y="1571605"/>
                </a:lnTo>
                <a:lnTo>
                  <a:pt x="1210741" y="1571605"/>
                </a:lnTo>
                <a:lnTo>
                  <a:pt x="12107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40707">
            <a:off x="2242789" y="6301498"/>
            <a:ext cx="1299845" cy="1687267"/>
          </a:xfrm>
          <a:custGeom>
            <a:avLst/>
            <a:gdLst/>
            <a:ahLst/>
            <a:cxnLst/>
            <a:rect r="r" b="b" t="t" l="l"/>
            <a:pathLst>
              <a:path h="1687267" w="1299845">
                <a:moveTo>
                  <a:pt x="1299845" y="0"/>
                </a:moveTo>
                <a:lnTo>
                  <a:pt x="0" y="0"/>
                </a:lnTo>
                <a:lnTo>
                  <a:pt x="0" y="1687266"/>
                </a:lnTo>
                <a:lnTo>
                  <a:pt x="1299845" y="1687266"/>
                </a:lnTo>
                <a:lnTo>
                  <a:pt x="12998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4861" y="3213642"/>
            <a:ext cx="14878277" cy="168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6"/>
              </a:lnSpc>
            </a:pPr>
            <a:r>
              <a:rPr lang="en-US" sz="13200" spc="-646">
                <a:solidFill>
                  <a:srgbClr val="0C76BB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43158" y="5840001"/>
            <a:ext cx="4265131" cy="2610260"/>
          </a:xfrm>
          <a:custGeom>
            <a:avLst/>
            <a:gdLst/>
            <a:ahLst/>
            <a:cxnLst/>
            <a:rect r="r" b="b" t="t" l="l"/>
            <a:pathLst>
              <a:path h="2610260" w="4265131">
                <a:moveTo>
                  <a:pt x="0" y="0"/>
                </a:moveTo>
                <a:lnTo>
                  <a:pt x="4265132" y="0"/>
                </a:lnTo>
                <a:lnTo>
                  <a:pt x="4265132" y="2610260"/>
                </a:lnTo>
                <a:lnTo>
                  <a:pt x="0" y="26102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DAHD8DD4xuU</dc:identifier>
  <dcterms:modified xsi:type="dcterms:W3CDTF">2011-08-01T06:04:30Z</dcterms:modified>
  <cp:revision>1</cp:revision>
  <dc:title>Sumit Kumar &amp; Team</dc:title>
</cp:coreProperties>
</file>